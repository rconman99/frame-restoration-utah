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3" name="Image 0" descr="/sessions/blissful-quirky-pascal/mnt/frame-restoration-utah/images/logo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PROJECT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40080" y="3520440"/>
            <a:ext cx="1371600" cy="45720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1B9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 Restoration Utah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Website Design, Development &amp; Digital Strategy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March 2026</a:t>
            </a:r>
            <a:endParaRPr lang="en-US" sz="1100" dirty="0"/>
          </a:p>
        </p:txBody>
      </p:sp>
      <p:pic>
        <p:nvPicPr>
          <p:cNvPr id="9" name="Image 1" descr="/sessions/blissful-quirky-pascal/mnt/frame-restoration-utah/images/projects/heber-valley-roof-front.jp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0" y="54864"/>
            <a:ext cx="4023360" cy="50886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120640" y="54864"/>
            <a:ext cx="4023360" cy="5088636"/>
          </a:xfrm>
          <a:prstGeom prst="rect">
            <a:avLst/>
          </a:prstGeom>
          <a:solidFill>
            <a:srgbClr val="0A223E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2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Custom-designed responsive website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14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DJI drone footage production (2 videos)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0545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505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Interactive project showcase pages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9504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889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capture &amp; conversion system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7355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273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Blog &amp; content marketing platform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5760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SEO foundation &amp; local optimization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41648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60120" y="4041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40+ Utah service area pages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600" dirty="0"/>
          </a:p>
        </p:txBody>
      </p:sp>
      <p:sp>
        <p:nvSpPr>
          <p:cNvPr id="21" name="Shape 12"/>
          <p:cNvSpPr/>
          <p:nvPr/>
        </p:nvSpPr>
        <p:spPr>
          <a:xfrm>
            <a:off x="4846320" y="17830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920240"/>
            <a:ext cx="365760" cy="3657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532120" y="1828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800" dirty="0"/>
          </a:p>
        </p:txBody>
      </p:sp>
      <p:sp>
        <p:nvSpPr>
          <p:cNvPr id="24" name="Text 14"/>
          <p:cNvSpPr/>
          <p:nvPr/>
        </p:nvSpPr>
        <p:spPr>
          <a:xfrm>
            <a:off x="64465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Verified Links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(0 Broken)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4846320" y="256032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2697480"/>
            <a:ext cx="365760" cy="36576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53212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Mobile CSS 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(4 Breakpoints)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4846320" y="333756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3474720"/>
            <a:ext cx="365760" cy="36576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532120" y="3383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800" dirty="0"/>
          </a:p>
        </p:txBody>
      </p:sp>
      <p:sp>
        <p:nvSpPr>
          <p:cNvPr id="32" name="Text 20"/>
          <p:cNvSpPr/>
          <p:nvPr/>
        </p:nvSpPr>
        <p:spPr>
          <a:xfrm>
            <a:off x="64465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Utah Cities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Covered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4846320" y="411480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425196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53212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36" name="Text 23"/>
          <p:cNvSpPr/>
          <p:nvPr/>
        </p:nvSpPr>
        <p:spPr>
          <a:xfrm>
            <a:off x="644652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Drone Videos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(109 sec total)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2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sessions/blissful-quirky-pascal/mnt/frame-restoration-utah/images/projects/heber-valley-drone-poster.jp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17320"/>
            <a:ext cx="384048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417320"/>
            <a:ext cx="3840480" cy="2286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46304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146304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146304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frame-restoration-utah.vercel.app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3977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B9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AUTOPLAY DRONE VIDEO HERO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32-second DJI aerial loop creates an immediate professional impression. No controls — seamless background experience.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1325880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1325880"/>
            <a:ext cx="54864" cy="621792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53896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362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FORM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532120" y="16184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Above-the-fold form with name, phone, email, city, ZIP. Generates instant leads.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46320" y="2039112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46320" y="2039112"/>
            <a:ext cx="54864" cy="621792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167128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32120" y="20756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532120" y="2331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5.0★ rating, A+ BBB, 40+ cities badge. Insurance claim handling, 5-year warranty.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846320" y="2752344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2752344"/>
            <a:ext cx="54864" cy="621792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8803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2788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SERVICE CARDS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532120" y="3044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Roof replacement, storm damage, repairs, inspections, gutters, insurance claims.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4846320" y="3465576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46320" y="3465576"/>
            <a:ext cx="54864" cy="621792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593592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32120" y="35021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532120" y="37581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 customer reviews with star ratings build social proof and credibility.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4846320" y="4178808"/>
            <a:ext cx="384048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846320" y="4178808"/>
            <a:ext cx="54864" cy="621792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4306824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532120" y="42153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ACCORDION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5532120" y="44714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Answers top roofing questions. Keeps visitors on page, reduces bounce rate.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VIDEO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B9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DJI aerial footage showcasing real project 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solidFill>
            <a:srgbClr val="143A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/sessions/blissful-quirky-pascal/mnt/frame-restoration-utah/images/projects/heber-valley-drone-poster.jp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356616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57400" y="2194560"/>
            <a:ext cx="640080" cy="640080"/>
          </a:xfrm>
          <a:prstGeom prst="ellipse">
            <a:avLst/>
          </a:prstGeom>
          <a:solidFill>
            <a:srgbClr val="E1B969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HERO LOOP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 seconds  •  Autoplay  •  11 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Seamless background loop, no controls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solidFill>
            <a:srgbClr val="143A5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/sessions/blissful-quirky-pascal/mnt/frame-restoration-utah/images/projects/heber-valley-showreel-poster.jp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7760" y="1645920"/>
            <a:ext cx="3566160" cy="1828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55080" y="2194560"/>
            <a:ext cx="640080" cy="640080"/>
          </a:xfrm>
          <a:prstGeom prst="ellipse">
            <a:avLst/>
          </a:prstGeom>
          <a:solidFill>
            <a:srgbClr val="E1B969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SHOWREEL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3886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77 seconds  •  User Controls  •  25 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walkthrough with full playback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88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H.264 encoding  •  CRF 28  •  1920×1080  •  Web-optimized with faststart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2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 PAGE</a:t>
            </a:r>
            <a:endParaRPr lang="en-US" sz="2800" dirty="0"/>
          </a:p>
        </p:txBody>
      </p:sp>
      <p:pic>
        <p:nvPicPr>
          <p:cNvPr id="5" name="Image 0" descr="/sessions/blissful-quirky-pascal/mnt/frame-restoration-utah/images/projects/heber-valley-roof-front.jp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2606040" cy="1463040"/>
          </a:xfrm>
          <a:prstGeom prst="rect">
            <a:avLst/>
          </a:prstGeom>
        </p:spPr>
      </p:pic>
      <p:pic>
        <p:nvPicPr>
          <p:cNvPr id="6" name="Image 1" descr="/sessions/blissful-quirky-pascal/mnt/frame-restoration-utah/images/projects/heber-valley-crew-wide.jp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1234440"/>
            <a:ext cx="2606040" cy="1463040"/>
          </a:xfrm>
          <a:prstGeom prst="rect">
            <a:avLst/>
          </a:prstGeom>
        </p:spPr>
      </p:pic>
      <p:pic>
        <p:nvPicPr>
          <p:cNvPr id="7" name="Image 2" descr="/sessions/blissful-quirky-pascal/mnt/frame-restoration-utah/images/projects/heber-valley-roof-aerial.jpg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234440"/>
            <a:ext cx="2606040" cy="1463040"/>
          </a:xfrm>
          <a:prstGeom prst="rect">
            <a:avLst/>
          </a:prstGeom>
        </p:spPr>
      </p:pic>
      <p:pic>
        <p:nvPicPr>
          <p:cNvPr id="8" name="Image 3" descr="/sessions/blissful-quirky-pascal/mnt/frame-restoration-utah/images/projects/heber-valley-crew-trucks.jpg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2834640"/>
            <a:ext cx="2606040" cy="1463040"/>
          </a:xfrm>
          <a:prstGeom prst="rect">
            <a:avLst/>
          </a:prstGeom>
        </p:spPr>
      </p:pic>
      <p:pic>
        <p:nvPicPr>
          <p:cNvPr id="9" name="Image 4" descr="/sessions/blissful-quirky-pascal/mnt/frame-restoration-utah/images/projects/heber-valley-ranch-drone.jpg"/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200400" y="2834640"/>
            <a:ext cx="2606040" cy="1463040"/>
          </a:xfrm>
          <a:prstGeom prst="rect">
            <a:avLst/>
          </a:prstGeom>
        </p:spPr>
      </p:pic>
      <p:pic>
        <p:nvPicPr>
          <p:cNvPr id="10" name="Image 5" descr="/sessions/blissful-quirky-pascal/mnt/frame-restoration-utah/images/projects/heber-valley-crew-rooftop.jpg"/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943600" y="2834640"/>
            <a:ext cx="2606040" cy="1463040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43400"/>
            <a:ext cx="274320" cy="27432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804672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6-Photo Gallery with Lightbox</a:t>
            </a:r>
            <a:endParaRPr lang="en-US" sz="900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4343400"/>
            <a:ext cx="274320" cy="27432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2953512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77-Second Drone Showreel</a:t>
            </a:r>
            <a:endParaRPr lang="en-US" sz="900" dirty="0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343400"/>
            <a:ext cx="274320" cy="27432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5102352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Interactive Leaflet.js Map</a:t>
            </a:r>
            <a:endParaRPr lang="en-US" sz="900" dirty="0"/>
          </a:p>
        </p:txBody>
      </p:sp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4343400"/>
            <a:ext cx="274320" cy="27432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7251192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Details Bar (Materials, Timeline, Scope)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2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ABOVE-THE-FOLD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 visible without scrolling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1012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fields: Name, Phone, Email, City, ZIP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9417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2688" y="3694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"Call within 15 min" promise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078224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32688" y="40782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Gold CTA button stands out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333756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337560" y="1280160"/>
            <a:ext cx="269748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554480"/>
            <a:ext cx="548640" cy="5486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52044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OPTIONS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926080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813048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Click-to-call: 435-302-4422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3310128"/>
            <a:ext cx="164592" cy="16459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13048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Sticky mobile call bar</a:t>
            </a:r>
            <a:endParaRPr lang="en-US" sz="10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3694176"/>
            <a:ext cx="164592" cy="16459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813048" y="3694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 section with full form</a:t>
            </a:r>
            <a:endParaRPr lang="en-US" sz="10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4078224"/>
            <a:ext cx="164592" cy="16459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813048" y="40782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Emergency tarping 24/7 messaging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621792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18"/>
          <p:cNvSpPr/>
          <p:nvPr/>
        </p:nvSpPr>
        <p:spPr>
          <a:xfrm>
            <a:off x="6217920" y="1280160"/>
            <a:ext cx="269748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3760" y="1554480"/>
            <a:ext cx="548640" cy="54864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400800" y="21945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20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2926080"/>
            <a:ext cx="164592" cy="164592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693408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5.0★ rating badge in hero</a:t>
            </a:r>
            <a:endParaRPr lang="en-US" sz="10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3310128"/>
            <a:ext cx="164592" cy="164592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6693408" y="33101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A+ BBB accreditation</a:t>
            </a:r>
            <a:endParaRPr lang="en-US" sz="10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3694176"/>
            <a:ext cx="164592" cy="164592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6693408" y="36941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"40+ Utah Cities" coverage</a:t>
            </a:r>
            <a:endParaRPr lang="en-US" sz="10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6520" y="4078224"/>
            <a:ext cx="164592" cy="164592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6693408" y="40782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5-year workmanship warranty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CSS 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926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 Queries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21208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Pages Optimized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566928"/>
          </a:xfrm>
          <a:prstGeom prst="rect">
            <a:avLst/>
          </a:prstGeom>
          <a:solidFill>
            <a:srgbClr val="14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900px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103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Tablet — Hamburger nav, single-column hero, sticky call bar, full-width CTAs, service cards stack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8229600" cy="566928"/>
          </a:xfrm>
          <a:prstGeom prst="rect">
            <a:avLst/>
          </a:prstGeom>
          <a:solidFill>
            <a:srgbClr val="14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614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640px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7614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Small tablet — Blog cards stack vertically, image thumbnails resize, content reflows to single column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8229600" cy="566928"/>
          </a:xfrm>
          <a:prstGeom prst="rect">
            <a:avLst/>
          </a:prstGeom>
          <a:solidFill>
            <a:srgbClr val="14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198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600px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34198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Mobile — Section padding tightens, nearby-city grid goes 2-column, chip touch targets expand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8229600" cy="566928"/>
          </a:xfrm>
          <a:prstGeom prst="rect">
            <a:avLst/>
          </a:prstGeom>
          <a:solidFill>
            <a:srgbClr val="14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782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407822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hover:none — Active states replace hover effects, 48px min touch targets on all interactive elements</a:t>
            </a:r>
            <a:endParaRPr lang="en-US" sz="10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60120" y="45720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 PAGES OPTIMIZED  —  iOS ZOOM FIX  •  LCP OPTIMIZED  •  48px TOUCH TARGETS  •  VIEWPORT META ON ALL PAGES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2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CONTENT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FOUNDATIONS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descriptions on every page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2374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Graph tags for social sharing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52928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Canonical URLs configured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82112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Semantic HTML structure (H1-H6)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11296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Alt text on all user-facing images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840480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0584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 URL structure (/projects/...)</a:t>
            </a:r>
            <a:endParaRPr lang="en-US" sz="10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4169664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05840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Schema-ready structured content</a:t>
            </a:r>
            <a:endParaRPr lang="en-US" sz="1000" dirty="0"/>
          </a:p>
        </p:txBody>
      </p:sp>
      <p:sp>
        <p:nvSpPr>
          <p:cNvPr id="23" name="Shape 13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4754880" y="1280160"/>
            <a:ext cx="393192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1554480"/>
            <a:ext cx="411480" cy="4114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5778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4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194560"/>
            <a:ext cx="164592" cy="16459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0352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Blog section for ongoing content</a:t>
            </a:r>
            <a:endParaRPr lang="en-US" sz="10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2523744"/>
            <a:ext cx="164592" cy="16459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03520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area pages (40+ cities)</a:t>
            </a:r>
            <a:endParaRPr lang="en-US" sz="10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2852928"/>
            <a:ext cx="164592" cy="164592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30352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case study template</a:t>
            </a:r>
            <a:endParaRPr lang="en-US" sz="10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3182112"/>
            <a:ext cx="164592" cy="164592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30352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FAQ section targets long-tail keywords</a:t>
            </a:r>
            <a:endParaRPr lang="en-US" sz="100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0" y="3511296"/>
            <a:ext cx="164592" cy="164592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30352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Trust badges (BBB, warranty, license)</a:t>
            </a:r>
            <a:endParaRPr lang="en-US" sz="1000" dirty="0"/>
          </a:p>
        </p:txBody>
      </p:sp>
      <p:pic>
        <p:nvPicPr>
          <p:cNvPr id="3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9200" y="3840480"/>
            <a:ext cx="164592" cy="164592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30352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Testimonials with star ratings</a:t>
            </a:r>
            <a:endParaRPr lang="en-US" sz="100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29200" y="4169664"/>
            <a:ext cx="164592" cy="164592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5303520" y="4169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Conversion-focused copy throughout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2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CREATED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Above-the-fold form captures homeowner leads 24/7. Click-to-call drives immediate phone inquiries.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280160"/>
            <a:ext cx="265176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&amp; TRUST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7472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site with drone video, BBB badge, and real reviews builds instant homeowner confidence.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26480" y="12801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280160"/>
            <a:ext cx="265176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REACH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9360" y="2057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40+ Utah city pages create massive local search visibility from Salt Lake to Heber Valley.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108960"/>
            <a:ext cx="265176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Drone footage and interactive project pages set Frame apart from competitors with basic sites.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9184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3108960"/>
            <a:ext cx="265176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3375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AUTHORITY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47472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Consistent navy/gold branding, professional photography, and detailed case studies position as premium.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26480" y="310896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108960"/>
            <a:ext cx="2651760" cy="45720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3756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0" y="3337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PLATFORM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30936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Blog, project templates, and modular design make adding new content and projects effortless.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2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1B969"/>
          </a:solidFill>
          <a:ln/>
        </p:spPr>
      </p:sp>
      <p:pic>
        <p:nvPicPr>
          <p:cNvPr id="3" name="Image 0" descr="/sessions/blissful-quirky-pascal/mnt/frame-restoration-utah/images/logo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4572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LAUNCH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86200" y="3017520"/>
            <a:ext cx="1371600" cy="36576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60320" y="3703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7180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Approve DNS switch to www.framerestorationutah.com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60320" y="40142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71800" y="40142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 lead form to CRM / email notifications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560320" y="43251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971800" y="4325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 Google Analytics &amp; Search Console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60320" y="4636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1B9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71800" y="4636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Google Business Profile integration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1B969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8691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2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frame-restoration-utah.vercel.app  •  435-302-4422  •  Frame Restoration Utah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 Restoration Utah — Digital Project Portfolio</dc:title>
  <dc:subject>PptxGenJS Presentation</dc:subject>
  <dc:creator>Claude AI for Frame Restoration Utah</dc:creator>
  <cp:lastModifiedBy>Claude AI for Frame Restoration Utah</cp:lastModifiedBy>
  <cp:revision>1</cp:revision>
  <dcterms:created xsi:type="dcterms:W3CDTF">2026-03-11T01:31:21Z</dcterms:created>
  <dcterms:modified xsi:type="dcterms:W3CDTF">2026-03-11T01:31:21Z</dcterms:modified>
</cp:coreProperties>
</file>